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Space Grotesk" panose="020B0604020202020204" charset="0"/>
      <p:bold r:id="rId26"/>
    </p:embeddedFont>
    <p:embeddedFont>
      <p:font typeface="Space Grotesk Medium" panose="020B0604020202020204" charset="0"/>
      <p:regular r:id="rId27"/>
      <p:bold r:id="rId28"/>
    </p:embeddedFont>
    <p:embeddedFont>
      <p:font typeface="Urbanist" panose="020B0604020202020204" charset="0"/>
      <p:regular r:id="rId29"/>
      <p:bold r:id="rId30"/>
      <p:italic r:id="rId31"/>
      <p:boldItalic r:id="rId32"/>
    </p:embeddedFont>
    <p:embeddedFont>
      <p:font typeface="Urbanist ExtraBold" panose="020B0604020202020204" charset="0"/>
      <p:bold r:id="rId33"/>
      <p:boldItalic r:id="rId34"/>
    </p:embeddedFont>
    <p:embeddedFont>
      <p:font typeface="Urbanist Medium" panose="020B0604020202020204" charset="0"/>
      <p:regular r:id="rId35"/>
      <p:bold r:id="rId36"/>
      <p:italic r:id="rId37"/>
      <p:boldItalic r:id="rId38"/>
    </p:embeddedFont>
    <p:embeddedFont>
      <p:font typeface="Urbanist SemiBold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ED5E2F-A151-4BC4-B9BF-5C5C82050970}">
  <a:tblStyle styleId="{91ED5E2F-A151-4BC4-B9BF-5C5C820509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9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tableStyles" Target="tableStyle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84354277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8" name="Google Shape;128;g3f684354277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84354277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2" name="Google Shape;162;g3f684354277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84354277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" name="Google Shape;192;g3f684354277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684354277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9" name="Google Shape;299;g3f684354277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684354277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16" name="Google Shape;316;g3f684354277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684354277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1" name="Google Shape;341;g3f684354277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684354277_14_0)">
  <p:cSld name="Generated (g3f684354277_14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hyperlink" Target="https://github.com/KalonzoBrian/Ngao-Labs-Projec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ngao-labs-project.streamlit.app/" TargetMode="External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0" y="206320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805338" y="2958554"/>
            <a:ext cx="1058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351C7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Agricultural </a:t>
            </a:r>
            <a:r>
              <a:rPr lang="en-US" sz="5400" b="0" i="0" u="none" strike="noStrike" cap="none">
                <a:solidFill>
                  <a:srgbClr val="274E1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Micro-Loan </a:t>
            </a:r>
            <a:r>
              <a:rPr lang="en-US" sz="5400" b="0" i="0" u="none" strike="noStrike" cap="none">
                <a:solidFill>
                  <a:srgbClr val="351C7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Predictor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052612" y="4356290"/>
            <a:ext cx="80868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51C75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lang="en-US" sz="2250" b="1" i="0" u="none" strike="noStrike" cap="none">
                <a:solidFill>
                  <a:srgbClr val="351C75"/>
                </a:solidFill>
                <a:latin typeface="Urbanist"/>
                <a:ea typeface="Urbanist"/>
                <a:cs typeface="Urbanist"/>
                <a:sym typeface="Urbanist"/>
              </a:rPr>
              <a:t>mpowering Kenyan Farmers and SACCOs with AI-Driven Credit Decisions</a:t>
            </a:r>
            <a:endParaRPr sz="1700" b="1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01080"/>
            <a:ext cx="5286375" cy="494407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</a:t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571500" y="1710630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Kenyan microfinance institutions and SACCOs face significant financial risk from loan defaults in the agricultural sector.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904875" y="3001863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Manual credit assessments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are slow, inconsistent, and prone to human bias.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904875" y="386268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Agricultural lending has inherently higher volatility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due to seasonal, weather, and market risks.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904875" y="472350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~21.8% of loans default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creating significant financial losses for SACCOs.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904875" y="5584328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Smallholder farmers lack formal credit </a:t>
            </a:r>
            <a:r>
              <a:rPr lang="en-US" sz="16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histories,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making traditional scoring models ineffective.</a:t>
            </a:r>
            <a:endParaRPr/>
          </a:p>
        </p:txBody>
      </p:sp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01080"/>
            <a:ext cx="5286375" cy="494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99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00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6160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62242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an infographic/image illustrating that Kenyan microfinance institutions and SACCOs face significant financial risk from loan defaults in the agricultural sector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4125" y="1501075"/>
            <a:ext cx="5539950" cy="511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Dataset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Overview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571500" y="1710630"/>
            <a:ext cx="5686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Three relational datasets from , linked by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customerid</a:t>
            </a:r>
            <a:endParaRPr dirty="0"/>
          </a:p>
        </p:txBody>
      </p:sp>
      <p:graphicFrame>
        <p:nvGraphicFramePr>
          <p:cNvPr id="111" name="Google Shape;111;p16"/>
          <p:cNvGraphicFramePr/>
          <p:nvPr>
            <p:extLst>
              <p:ext uri="{D42A27DB-BD31-4B8C-83A1-F6EECF244321}">
                <p14:modId xmlns:p14="http://schemas.microsoft.com/office/powerpoint/2010/main" val="2694607183"/>
              </p:ext>
            </p:extLst>
          </p:nvPr>
        </p:nvGraphicFramePr>
        <p:xfrm>
          <a:off x="5879726" y="0"/>
          <a:ext cx="6312274" cy="2809631"/>
        </p:xfrm>
        <a:graphic>
          <a:graphicData uri="http://schemas.openxmlformats.org/drawingml/2006/table">
            <a:tbl>
              <a:tblPr firstRow="1" bandRow="1">
                <a:noFill/>
                <a:tableStyleId>{91ED5E2F-A151-4BC4-B9BF-5C5C82050970}</a:tableStyleId>
              </a:tblPr>
              <a:tblGrid>
                <a:gridCol w="2241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0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2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Dataset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Records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Features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Description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traindemographics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4,346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Age, employment, education, bank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trainprevloans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18,183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Historical loans, amounts, repayment dates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75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trainperf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4,368</a:t>
                      </a:r>
                      <a:endParaRPr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Current loan performance + target</a:t>
                      </a:r>
                      <a:endParaRPr dirty="0">
                        <a:solidFill>
                          <a:schemeClr val="tx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0" y="2810435"/>
            <a:ext cx="10563786" cy="404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7"/>
          <p:cNvGrpSpPr/>
          <p:nvPr/>
        </p:nvGrpSpPr>
        <p:grpSpPr>
          <a:xfrm>
            <a:off x="571500" y="571500"/>
            <a:ext cx="11049000" cy="952425"/>
            <a:chOff x="571500" y="571500"/>
            <a:chExt cx="11049000" cy="952425"/>
          </a:xfrm>
        </p:grpSpPr>
        <p:sp>
          <p:nvSpPr>
            <p:cNvPr id="131" name="Google Shape;131;p17"/>
            <p:cNvSpPr txBox="1"/>
            <p:nvPr/>
          </p:nvSpPr>
          <p:spPr>
            <a:xfrm>
              <a:off x="571500" y="571500"/>
              <a:ext cx="11049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36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Methodology </a:t>
              </a:r>
              <a:r>
                <a:rPr lang="en-US" sz="36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Overview</a:t>
              </a:r>
              <a:endParaRPr sz="36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571500" y="1190625"/>
              <a:ext cx="1104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A systematic feature engineering workflow and preprocessing pipeline designed for credit prediction.</a:t>
              </a:r>
              <a:endParaRPr sz="16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561975" y="1800225"/>
            <a:ext cx="3448200" cy="4495800"/>
            <a:chOff x="561975" y="1800225"/>
            <a:chExt cx="3448200" cy="4495800"/>
          </a:xfrm>
        </p:grpSpPr>
        <p:pic>
          <p:nvPicPr>
            <p:cNvPr id="134" name="Google Shape;13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1975" y="1800225"/>
              <a:ext cx="3448200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7"/>
            <p:cNvSpPr txBox="1"/>
            <p:nvPr/>
          </p:nvSpPr>
          <p:spPr>
            <a:xfrm>
              <a:off x="809625" y="2047875"/>
              <a:ext cx="2952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🔬 Behavioral Features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Repayment delay days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Late payment indicators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Interest accrued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Loan intensity </a:t>
              </a:r>
              <a:r>
                <a:rPr lang="en-US" sz="110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(amount / term)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👥 Per-Customer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Total previous loans count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Average repayment delay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Late repayment ratio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60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On-time repayment rate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4181475" y="1800225"/>
            <a:ext cx="3448200" cy="4495800"/>
            <a:chOff x="4181475" y="1800225"/>
            <a:chExt cx="3448200" cy="4495800"/>
          </a:xfrm>
        </p:grpSpPr>
        <p:pic>
          <p:nvPicPr>
            <p:cNvPr id="137" name="Google Shape;13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81475" y="1800225"/>
              <a:ext cx="3448200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7"/>
            <p:cNvSpPr txBox="1"/>
            <p:nvPr/>
          </p:nvSpPr>
          <p:spPr>
            <a:xfrm>
              <a:off x="4429125" y="2047875"/>
              <a:ext cx="2952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🏷️ Demographic Derivatives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Age at loan application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Employment status encoding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Education level encoding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Urbanist"/>
                <a:buChar char="●"/>
              </a:pPr>
              <a:r>
                <a:rPr lang="en-US" sz="13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Bank name target encoding</a:t>
              </a:r>
              <a:endParaRPr sz="13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Feature Rationale</a:t>
              </a:r>
              <a:endParaRPr sz="15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12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By combining raw demographics with aggregated repayment patterns, the model captures both static risk profiles and dynamic behavioral shifts.</a:t>
              </a:r>
              <a:endParaRPr sz="12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7800975" y="1800225"/>
            <a:ext cx="3829200" cy="4495800"/>
            <a:chOff x="7800975" y="1800225"/>
            <a:chExt cx="3829200" cy="4495800"/>
          </a:xfrm>
        </p:grpSpPr>
        <p:pic>
          <p:nvPicPr>
            <p:cNvPr id="140" name="Google Shape;140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00975" y="1800225"/>
              <a:ext cx="3829200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7"/>
            <p:cNvSpPr txBox="1"/>
            <p:nvPr/>
          </p:nvSpPr>
          <p:spPr>
            <a:xfrm>
              <a:off x="8048625" y="2047875"/>
              <a:ext cx="3333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⚙️ Preprocessing Pipeline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Using </a:t>
              </a:r>
              <a:r>
                <a:rPr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sklearn.compose. </a:t>
              </a:r>
              <a:r>
                <a:rPr lang="en-US" sz="12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ColumnTransformer to isolate and target specific attribute types.</a:t>
              </a:r>
              <a:endParaRPr sz="12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Numerical Features</a:t>
              </a:r>
              <a:endParaRPr sz="13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8BDF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Transformer: StandardScaler</a:t>
              </a:r>
              <a:endParaRPr sz="1200" b="0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l</a:t>
              </a:r>
              <a:r>
                <a:rPr lang="en-US" sz="125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loan_amount,</a:t>
              </a: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25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total_due,</a:t>
              </a: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 age_at_loan, mean_repay_delay</a:t>
              </a:r>
              <a:endParaRPr sz="12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High-Cardinality Categorical</a:t>
              </a:r>
              <a:endParaRPr sz="13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B7185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Transformer: TargetEncoder</a:t>
              </a:r>
              <a:endParaRPr sz="1200" b="0">
                <a:solidFill>
                  <a:srgbClr val="FB7185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bank_name_clients</a:t>
              </a:r>
              <a:endParaRPr sz="12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Low-Cardinality Categorical</a:t>
              </a:r>
              <a:endParaRPr sz="13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4D399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Transformer: OneHotEncoder</a:t>
              </a:r>
              <a:endParaRPr sz="1200" b="0">
                <a:solidFill>
                  <a:srgbClr val="34D399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employment_status, bank_account_type, education_level</a:t>
              </a:r>
              <a:endParaRPr sz="12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26791"/>
            <a:ext cx="3492400" cy="401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426791"/>
            <a:ext cx="3492549" cy="401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2426791"/>
            <a:ext cx="3492400" cy="401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-698600" y="169465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An end-to-end </a:t>
            </a:r>
            <a:r>
              <a:rPr lang="en-US" sz="165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machine learning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pipeline balancing predictive power with explainability.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7250" y="3398341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Data Pipeline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3931741"/>
            <a:ext cx="2920900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Aggregated behavioral features (repayment delays, late payment ratios) and demographic derivatives. Applied Target Encoding and StandardScaler.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4635400" y="3398341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Modeling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635400" y="3931741"/>
            <a:ext cx="2921049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Evaluated PyTorch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ShallowMLP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DeepTabNet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and XGBoost. Addressed class imbalance using SMOTE and optimal threshold tuning.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8413700" y="3398341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Explainable AI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413700" y="3931741"/>
            <a:ext cx="29209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Integrated native SHAP (SHapley Additive exPlanations) values to provide per-prediction transparency for loan officers.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77921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35400" y="277921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13700" y="2779216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9"/>
          <p:cNvGrpSpPr/>
          <p:nvPr/>
        </p:nvGrpSpPr>
        <p:grpSpPr>
          <a:xfrm>
            <a:off x="571500" y="571500"/>
            <a:ext cx="11049000" cy="952425"/>
            <a:chOff x="571500" y="571500"/>
            <a:chExt cx="11049000" cy="952425"/>
          </a:xfrm>
        </p:grpSpPr>
        <p:sp>
          <p:nvSpPr>
            <p:cNvPr id="165" name="Google Shape;165;p19"/>
            <p:cNvSpPr txBox="1"/>
            <p:nvPr/>
          </p:nvSpPr>
          <p:spPr>
            <a:xfrm>
              <a:off x="571500" y="571500"/>
              <a:ext cx="11049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-US" sz="36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Model </a:t>
              </a:r>
              <a:r>
                <a:rPr lang="en-US" sz="36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Architectures</a:t>
              </a:r>
              <a:endParaRPr sz="36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571500" y="1190625"/>
              <a:ext cx="1104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-US" sz="16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Comparative summary of the three evaluated machine learning architectures for credit scoring.</a:t>
              </a:r>
              <a:endParaRPr sz="16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571500" y="1857375"/>
            <a:ext cx="3429000" cy="4429200"/>
            <a:chOff x="571500" y="1857375"/>
            <a:chExt cx="3429000" cy="4429200"/>
          </a:xfrm>
        </p:grpSpPr>
        <p:sp>
          <p:nvSpPr>
            <p:cNvPr id="168" name="Google Shape;168;p19"/>
            <p:cNvSpPr/>
            <p:nvPr/>
          </p:nvSpPr>
          <p:spPr>
            <a:xfrm>
              <a:off x="571500" y="1857375"/>
              <a:ext cx="3429000" cy="4429200"/>
            </a:xfrm>
            <a:prstGeom prst="roundRect">
              <a:avLst>
                <a:gd name="adj" fmla="val 4444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723900" y="2009775"/>
              <a:ext cx="1238400" cy="22860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838200" y="2047875"/>
              <a:ext cx="10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-US" sz="853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★ PRIMARY MODEL</a:t>
              </a:r>
              <a:endParaRPr sz="853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723900" y="2352675"/>
              <a:ext cx="3124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dirty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🌳 XGBoost Tuned</a:t>
              </a:r>
              <a:endParaRPr sz="1550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008" b="0" dirty="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Gradient-boosted tree ensemble — production model</a:t>
              </a:r>
              <a:endParaRPr sz="1008" b="0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723900" y="3048000"/>
              <a:ext cx="3124200" cy="96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723900" y="3209925"/>
              <a:ext cx="3124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Search strategy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RandomizedSearchCV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Cross-validation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3-fold CV Folds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Total Iterations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15 hyperparameter trials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723900" y="5143500"/>
              <a:ext cx="3124200" cy="96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723900" y="5334000"/>
              <a:ext cx="3124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0.724</a:t>
              </a:r>
              <a:endParaRPr sz="280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853" b="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VALIDATION AUC-ROC</a:t>
              </a:r>
              <a:endParaRPr sz="853" b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4381500" y="1857375"/>
            <a:ext cx="3429000" cy="4429200"/>
            <a:chOff x="4381500" y="1857375"/>
            <a:chExt cx="3429000" cy="4429200"/>
          </a:xfrm>
        </p:grpSpPr>
        <p:sp>
          <p:nvSpPr>
            <p:cNvPr id="177" name="Google Shape;177;p19"/>
            <p:cNvSpPr/>
            <p:nvPr/>
          </p:nvSpPr>
          <p:spPr>
            <a:xfrm>
              <a:off x="4381500" y="1857375"/>
              <a:ext cx="3429000" cy="4429200"/>
            </a:xfrm>
            <a:prstGeom prst="roundRect">
              <a:avLst>
                <a:gd name="adj" fmla="val 4444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4533900" y="2352675"/>
              <a:ext cx="3124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🧠 ShallowMLP</a:t>
              </a:r>
              <a:endParaRPr sz="155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008" b="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PyTorch neural network benchmark</a:t>
              </a:r>
              <a:endParaRPr sz="1008" b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4533900" y="3048000"/>
              <a:ext cx="3124200" cy="96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4533900" y="3209925"/>
              <a:ext cx="3124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Layer Architecture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Input → 128 → 64 → 1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Activation functions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ReLU + BatchNorm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Regularization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30% Dropout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4533900" y="5143500"/>
              <a:ext cx="3124200" cy="96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4533900" y="5334000"/>
              <a:ext cx="3124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0.694</a:t>
              </a:r>
              <a:endParaRPr sz="2800" b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853" b="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VALIDATION AUC-ROC</a:t>
              </a:r>
              <a:endParaRPr sz="853" b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83" name="Google Shape;183;p19"/>
          <p:cNvGrpSpPr/>
          <p:nvPr/>
        </p:nvGrpSpPr>
        <p:grpSpPr>
          <a:xfrm>
            <a:off x="8191500" y="1857375"/>
            <a:ext cx="3429000" cy="4429200"/>
            <a:chOff x="8191500" y="1857375"/>
            <a:chExt cx="3429000" cy="4429200"/>
          </a:xfrm>
        </p:grpSpPr>
        <p:sp>
          <p:nvSpPr>
            <p:cNvPr id="184" name="Google Shape;184;p19"/>
            <p:cNvSpPr/>
            <p:nvPr/>
          </p:nvSpPr>
          <p:spPr>
            <a:xfrm>
              <a:off x="8191500" y="1857375"/>
              <a:ext cx="3429000" cy="4429200"/>
            </a:xfrm>
            <a:prstGeom prst="roundRect">
              <a:avLst>
                <a:gd name="adj" fmla="val 4444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8343900" y="2352675"/>
              <a:ext cx="3124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🔮 DeepTabNet</a:t>
              </a:r>
              <a:endParaRPr sz="155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008" b="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Deep tabular comparison model</a:t>
              </a:r>
              <a:endParaRPr sz="1008" b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8343900" y="3048000"/>
              <a:ext cx="3124200" cy="96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8343900" y="3209925"/>
              <a:ext cx="3124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Layer Architecture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256 → 128 → 64 → 32 → 1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Activation functions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LeakyReLU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Regularization</a:t>
              </a:r>
              <a:endParaRPr sz="1350" b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 b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Heavy Dropout rate</a:t>
              </a:r>
              <a:endParaRPr sz="135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8343900" y="5143500"/>
              <a:ext cx="3124200" cy="96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8343900" y="5334000"/>
              <a:ext cx="3124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A7F3D0"/>
                  </a:solidFill>
                  <a:latin typeface="Urbanist"/>
                  <a:ea typeface="Urbanist"/>
                  <a:cs typeface="Urbanist"/>
                  <a:sym typeface="Urbanist"/>
                </a:rPr>
                <a:t>0.716</a:t>
              </a:r>
              <a:endParaRPr sz="2800" b="1">
                <a:solidFill>
                  <a:srgbClr val="A7F3D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853" b="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VALIDATION AUC-ROC</a:t>
              </a:r>
              <a:endParaRPr sz="853" b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0"/>
          <p:cNvGrpSpPr/>
          <p:nvPr/>
        </p:nvGrpSpPr>
        <p:grpSpPr>
          <a:xfrm>
            <a:off x="571500" y="571500"/>
            <a:ext cx="11049000" cy="952425"/>
            <a:chOff x="571500" y="571500"/>
            <a:chExt cx="11049000" cy="952425"/>
          </a:xfrm>
        </p:grpSpPr>
        <p:sp>
          <p:nvSpPr>
            <p:cNvPr id="195" name="Google Shape;195;p20"/>
            <p:cNvSpPr txBox="1"/>
            <p:nvPr/>
          </p:nvSpPr>
          <p:spPr>
            <a:xfrm>
              <a:off x="571500" y="571500"/>
              <a:ext cx="11049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End-to-End </a:t>
              </a:r>
              <a:r>
                <a:rPr lang="en-US" sz="36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Pipeline Architecture</a:t>
              </a:r>
              <a:endParaRPr sz="36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571500" y="1190625"/>
              <a:ext cx="1104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Schematic overview of the credit scoring data, modeling, deployment, and explainability workflow.</a:t>
              </a:r>
              <a:endParaRPr sz="16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571500" y="2286000"/>
            <a:ext cx="1409700" cy="2667000"/>
            <a:chOff x="571500" y="2286000"/>
            <a:chExt cx="1409700" cy="2667000"/>
          </a:xfrm>
        </p:grpSpPr>
        <p:sp>
          <p:nvSpPr>
            <p:cNvPr id="198" name="Google Shape;198;p20"/>
            <p:cNvSpPr/>
            <p:nvPr/>
          </p:nvSpPr>
          <p:spPr>
            <a:xfrm>
              <a:off x="571500" y="2286000"/>
              <a:ext cx="1409700" cy="2667000"/>
            </a:xfrm>
            <a:prstGeom prst="roundRect">
              <a:avLst>
                <a:gd name="adj" fmla="val 8108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714375" y="2428875"/>
              <a:ext cx="1124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01</a:t>
              </a:r>
              <a:endParaRPr sz="93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63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📦 Raw Data</a:t>
              </a:r>
              <a:endParaRPr sz="1163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3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3 CSV datasets containing customer and historical loan profiles.</a:t>
              </a:r>
              <a:endParaRPr sz="93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00" name="Google Shape;20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5500" y="3609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8375" y="3581400"/>
            <a:ext cx="762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20"/>
          <p:cNvGrpSpPr/>
          <p:nvPr/>
        </p:nvGrpSpPr>
        <p:grpSpPr>
          <a:xfrm>
            <a:off x="2428875" y="2286000"/>
            <a:ext cx="1409700" cy="2667000"/>
            <a:chOff x="2428875" y="2286000"/>
            <a:chExt cx="1409700" cy="2667000"/>
          </a:xfrm>
        </p:grpSpPr>
        <p:sp>
          <p:nvSpPr>
            <p:cNvPr id="203" name="Google Shape;203;p20"/>
            <p:cNvSpPr/>
            <p:nvPr/>
          </p:nvSpPr>
          <p:spPr>
            <a:xfrm>
              <a:off x="2428875" y="2286000"/>
              <a:ext cx="1409700" cy="2667000"/>
            </a:xfrm>
            <a:prstGeom prst="roundRect">
              <a:avLst>
                <a:gd name="adj" fmla="val 8108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2571750" y="2428875"/>
              <a:ext cx="1124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02</a:t>
              </a:r>
              <a:endParaRPr sz="93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63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⚙️ Feature Eng.</a:t>
              </a:r>
              <a:endParaRPr sz="1163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3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Creation of 20 behavioral and demographic features.</a:t>
              </a:r>
              <a:endParaRPr sz="93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05" name="Google Shape;20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2875" y="3609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5750" y="3581400"/>
            <a:ext cx="762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0"/>
          <p:cNvGrpSpPr/>
          <p:nvPr/>
        </p:nvGrpSpPr>
        <p:grpSpPr>
          <a:xfrm>
            <a:off x="4286250" y="2286000"/>
            <a:ext cx="1409700" cy="2667000"/>
            <a:chOff x="4286250" y="2286000"/>
            <a:chExt cx="1409700" cy="2667000"/>
          </a:xfrm>
        </p:grpSpPr>
        <p:sp>
          <p:nvSpPr>
            <p:cNvPr id="208" name="Google Shape;208;p20"/>
            <p:cNvSpPr/>
            <p:nvPr/>
          </p:nvSpPr>
          <p:spPr>
            <a:xfrm>
              <a:off x="4286250" y="2286000"/>
              <a:ext cx="1409700" cy="2667000"/>
            </a:xfrm>
            <a:prstGeom prst="roundRect">
              <a:avLst>
                <a:gd name="adj" fmla="val 8108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4429125" y="2428875"/>
              <a:ext cx="1124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03</a:t>
              </a:r>
              <a:endParaRPr sz="93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63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🔄 Preprocessing</a:t>
              </a:r>
              <a:endParaRPr sz="1163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3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ColumnTransformer pipelines applied for numerical &amp; categorical encoding.</a:t>
              </a:r>
              <a:endParaRPr sz="93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10" name="Google Shape;21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3609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3125" y="3581400"/>
            <a:ext cx="762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20"/>
          <p:cNvGrpSpPr/>
          <p:nvPr/>
        </p:nvGrpSpPr>
        <p:grpSpPr>
          <a:xfrm>
            <a:off x="6143625" y="2286000"/>
            <a:ext cx="1409700" cy="2667000"/>
            <a:chOff x="6143625" y="2286000"/>
            <a:chExt cx="1409700" cy="2667000"/>
          </a:xfrm>
        </p:grpSpPr>
        <p:sp>
          <p:nvSpPr>
            <p:cNvPr id="213" name="Google Shape;213;p20"/>
            <p:cNvSpPr/>
            <p:nvPr/>
          </p:nvSpPr>
          <p:spPr>
            <a:xfrm>
              <a:off x="6143625" y="2286000"/>
              <a:ext cx="1409700" cy="2667000"/>
            </a:xfrm>
            <a:prstGeom prst="roundRect">
              <a:avLst>
                <a:gd name="adj" fmla="val 8108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6286500" y="2428875"/>
              <a:ext cx="1124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 dirty="0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04</a:t>
              </a:r>
              <a:endParaRPr sz="930" b="1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63" b="0" dirty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🤖 Training</a:t>
              </a:r>
              <a:endParaRPr sz="1163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3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XGBoost optimization and deep tabular network training.</a:t>
              </a:r>
              <a:endParaRPr sz="93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15" name="Google Shape;21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7625" y="3609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0" y="3581400"/>
            <a:ext cx="762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20"/>
          <p:cNvGrpSpPr/>
          <p:nvPr/>
        </p:nvGrpSpPr>
        <p:grpSpPr>
          <a:xfrm>
            <a:off x="8001000" y="2286000"/>
            <a:ext cx="1409700" cy="2667000"/>
            <a:chOff x="8001000" y="2286000"/>
            <a:chExt cx="1409700" cy="2667000"/>
          </a:xfrm>
        </p:grpSpPr>
        <p:sp>
          <p:nvSpPr>
            <p:cNvPr id="218" name="Google Shape;218;p20"/>
            <p:cNvSpPr/>
            <p:nvPr/>
          </p:nvSpPr>
          <p:spPr>
            <a:xfrm>
              <a:off x="8001000" y="2286000"/>
              <a:ext cx="1409700" cy="2667000"/>
            </a:xfrm>
            <a:prstGeom prst="roundRect">
              <a:avLst>
                <a:gd name="adj" fmla="val 8108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8143875" y="2428875"/>
              <a:ext cx="1124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05</a:t>
              </a:r>
              <a:endParaRPr sz="93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63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🌐 Deployment</a:t>
              </a:r>
              <a:endParaRPr sz="1163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3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Live web app powered by Streamlit for instant visual evaluation.</a:t>
              </a:r>
              <a:endParaRPr sz="93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20" name="Google Shape;22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0" y="3609975"/>
            <a:ext cx="1428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67875" y="3581400"/>
            <a:ext cx="762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0"/>
          <p:cNvGrpSpPr/>
          <p:nvPr/>
        </p:nvGrpSpPr>
        <p:grpSpPr>
          <a:xfrm>
            <a:off x="9858375" y="2620238"/>
            <a:ext cx="1952700" cy="1257300"/>
            <a:chOff x="9858375" y="2286000"/>
            <a:chExt cx="1952700" cy="1257300"/>
          </a:xfrm>
        </p:grpSpPr>
        <p:sp>
          <p:nvSpPr>
            <p:cNvPr id="223" name="Google Shape;223;p20"/>
            <p:cNvSpPr/>
            <p:nvPr/>
          </p:nvSpPr>
          <p:spPr>
            <a:xfrm>
              <a:off x="9858375" y="2286000"/>
              <a:ext cx="1952700" cy="1257300"/>
            </a:xfrm>
            <a:prstGeom prst="roundRect">
              <a:avLst>
                <a:gd name="adj" fmla="val 9090"/>
              </a:avLst>
            </a:prstGeom>
            <a:solidFill>
              <a:srgbClr val="151B26"/>
            </a:solidFill>
            <a:ln w="1430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10001250" y="2400300"/>
              <a:ext cx="16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06</a:t>
              </a:r>
              <a:endParaRPr sz="93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63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🔍 SHAP Explainer</a:t>
              </a:r>
              <a:endParaRPr sz="1163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3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Provides per-prediction transparency for credit analysis.</a:t>
              </a:r>
              <a:endParaRPr sz="93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25" name="Google Shape;225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11919" y="3880945"/>
            <a:ext cx="45719" cy="7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98879" y="4564525"/>
            <a:ext cx="271800" cy="2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0"/>
          <p:cNvGrpSpPr/>
          <p:nvPr/>
        </p:nvGrpSpPr>
        <p:grpSpPr>
          <a:xfrm>
            <a:off x="9990250" y="4953000"/>
            <a:ext cx="1952700" cy="1257300"/>
            <a:chOff x="9858375" y="3695700"/>
            <a:chExt cx="1952700" cy="1257300"/>
          </a:xfrm>
        </p:grpSpPr>
        <p:sp>
          <p:nvSpPr>
            <p:cNvPr id="228" name="Google Shape;228;p20"/>
            <p:cNvSpPr/>
            <p:nvPr/>
          </p:nvSpPr>
          <p:spPr>
            <a:xfrm>
              <a:off x="9858375" y="3695700"/>
              <a:ext cx="1952700" cy="1257300"/>
            </a:xfrm>
            <a:prstGeom prst="roundRect">
              <a:avLst>
                <a:gd name="adj" fmla="val 9090"/>
              </a:avLst>
            </a:prstGeom>
            <a:solidFill>
              <a:srgbClr val="151B26"/>
            </a:solidFill>
            <a:ln w="143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10001250" y="3810000"/>
              <a:ext cx="16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" b="1" dirty="0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STEP 07</a:t>
              </a:r>
              <a:endParaRPr sz="930" b="1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63" b="0" dirty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✅ Risk Decision</a:t>
              </a:r>
              <a:endParaRPr sz="1163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3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Automated determination on whether to approve or flag the application.</a:t>
              </a:r>
              <a:endParaRPr sz="93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6291"/>
            <a:ext cx="1104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Performance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Evaluation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171063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XGBoost Tuned Ensemble achieved the strongest overall performance on validation datasets.</a:t>
            </a:r>
            <a:endParaRPr dirty="0"/>
          </a:p>
        </p:txBody>
      </p:sp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31541"/>
            <a:ext cx="1085850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01080"/>
            <a:ext cx="5286375" cy="47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Addressing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Class Imbalance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150108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Threshold Tuning &gt; SMOTE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217735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With an initial ~80/20 class imbalance, traditional models struggled to identify the minority class (Defaulted loans).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658625" y="3409596"/>
            <a:ext cx="49530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Cost-sensitive weighting and SMOTE were applied to augment minority representation; specifically, scale_pos_weight in XGBoost penalizes misclassifying defaults more heavily than repaid loans.</a:t>
            </a:r>
            <a:endParaRPr sz="1600" b="1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658625" y="4640702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Optimization: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Adjusting the classification threshold from the default 0.5 down to ~0.10 - 0.35 proved most effective.</a:t>
            </a:r>
            <a:endParaRPr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738187" y="587781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This significantly improved Default Recall without drastically over-penalizing good borrowers.</a:t>
            </a:r>
            <a:endParaRPr dirty="0"/>
          </a:p>
        </p:txBody>
      </p:sp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01080"/>
            <a:ext cx="5286375" cy="478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4556" y="3475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400" y="474940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875" y="6086474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6291"/>
            <a:ext cx="1104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Optimizing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Default Recall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171063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The Tuned XGBoost model with threshold optimization dramatically shifted false negatives into true positives for defaults.</a:t>
            </a:r>
            <a:endParaRPr dirty="0"/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31541"/>
            <a:ext cx="1085850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/>
        </p:nvSpPr>
        <p:spPr>
          <a:xfrm>
            <a:off x="571500" y="390821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Interactive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XAI Dashboard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150108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Real-Time Risk Assessment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217735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The Streamlit web application allows loan officers to input applicant demographics and loan request details to receive instant predictions.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904875" y="358288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Color-coded outputs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(High Risk / Low Risk)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04875" y="4108549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SHAP Explanations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showing the top 10 factors influencing the specific decision.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904875" y="4969371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Narrative summaries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translating ML outputs into plain English.</a:t>
            </a:r>
            <a:endParaRPr/>
          </a:p>
        </p:txBody>
      </p:sp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7875" y="147919"/>
            <a:ext cx="6026943" cy="573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2098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4664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0747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01080"/>
            <a:ext cx="5286375" cy="478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01080"/>
            <a:ext cx="5286375" cy="478541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Findings &amp; </a:t>
            </a:r>
            <a:r>
              <a:rPr lang="en-US" sz="36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Responsible AI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895350" y="1786830"/>
            <a:ext cx="491061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Risk Drivers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657975" y="1786830"/>
            <a:ext cx="491061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Responsible AI Practices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228725" y="2301180"/>
            <a:ext cx="4343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Repayment Behavior: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mean_repay_delay and late_repayment_ratio are the strongest predictors.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228725" y="3497163"/>
            <a:ext cx="4343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Loan Intensity: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High requested amounts over short term periods correlate highly with default.</a:t>
            </a:r>
            <a:endParaRPr dirty="0"/>
          </a:p>
        </p:txBody>
      </p:sp>
      <p:sp>
        <p:nvSpPr>
          <p:cNvPr id="287" name="Google Shape;287;p25"/>
          <p:cNvSpPr txBox="1"/>
          <p:nvPr/>
        </p:nvSpPr>
        <p:spPr>
          <a:xfrm>
            <a:off x="1085850" y="4747321"/>
            <a:ext cx="4343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Engineering: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Engineered behavioral features significantly outperformed raw demographics.</a:t>
            </a:r>
            <a:endParaRPr dirty="0"/>
          </a:p>
        </p:txBody>
      </p:sp>
      <p:sp>
        <p:nvSpPr>
          <p:cNvPr id="288" name="Google Shape;288;p25"/>
          <p:cNvSpPr txBox="1"/>
          <p:nvPr/>
        </p:nvSpPr>
        <p:spPr>
          <a:xfrm>
            <a:off x="6991350" y="2301180"/>
            <a:ext cx="4343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Explainability (No Black Box):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SHAP integration ensures every prediction is transparent.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6848475" y="3430138"/>
            <a:ext cx="4343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Fairness Audits: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Disaggregated performance analysis across employment sub-groups to check for algorithmic bias.</a:t>
            </a:r>
            <a:endParaRPr dirty="0"/>
          </a:p>
        </p:txBody>
      </p:sp>
      <p:sp>
        <p:nvSpPr>
          <p:cNvPr id="290" name="Google Shape;290;p25"/>
          <p:cNvSpPr txBox="1"/>
          <p:nvPr/>
        </p:nvSpPr>
        <p:spPr>
          <a:xfrm>
            <a:off x="6945686" y="4763968"/>
            <a:ext cx="4343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Decision Support: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Positioned purely as an advisory tool, not a replacement for human judgment.</a:t>
            </a:r>
            <a:endParaRPr dirty="0"/>
          </a:p>
        </p:txBody>
      </p:sp>
      <p:pic>
        <p:nvPicPr>
          <p:cNvPr id="291" name="Google Shape;29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350" y="2339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790" y="3580296"/>
            <a:ext cx="227620" cy="19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745" y="491088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7975" y="2339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2725" y="36000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7975" y="4860726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Ethics &amp; </a:t>
            </a:r>
            <a:r>
              <a:rPr lang="en-US" sz="36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Responsible AI Framework</a:t>
            </a:r>
            <a:endParaRPr sz="3600" b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302" name="Google Shape;302;p26"/>
          <p:cNvGrpSpPr/>
          <p:nvPr/>
        </p:nvGrpSpPr>
        <p:grpSpPr>
          <a:xfrm>
            <a:off x="571500" y="1524000"/>
            <a:ext cx="5286300" cy="2190900"/>
            <a:chOff x="571500" y="1524000"/>
            <a:chExt cx="5286300" cy="2190900"/>
          </a:xfrm>
        </p:grpSpPr>
        <p:sp>
          <p:nvSpPr>
            <p:cNvPr id="303" name="Google Shape;303;p26"/>
            <p:cNvSpPr/>
            <p:nvPr/>
          </p:nvSpPr>
          <p:spPr>
            <a:xfrm>
              <a:off x="571500" y="1524000"/>
              <a:ext cx="5286300" cy="2190900"/>
            </a:xfrm>
            <a:prstGeom prst="roundRect">
              <a:avLst>
                <a:gd name="adj" fmla="val 5217"/>
              </a:avLst>
            </a:prstGeom>
            <a:solidFill>
              <a:srgbClr val="181D27"/>
            </a:solidFill>
            <a:ln w="9525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857250" y="1809750"/>
              <a:ext cx="47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🔍 Explainability</a:t>
              </a:r>
              <a:endParaRPr sz="20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Every prediction includes SHAP-based feature impact analysis.</a:t>
              </a:r>
              <a:endParaRPr sz="165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Loan officers see exactly why each decision was made — ensuring complete clarity rather than relying on a complex black box.</a:t>
              </a:r>
              <a:endParaRPr sz="130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5" name="Google Shape;305;p26"/>
          <p:cNvGrpSpPr/>
          <p:nvPr/>
        </p:nvGrpSpPr>
        <p:grpSpPr>
          <a:xfrm>
            <a:off x="6334125" y="1524000"/>
            <a:ext cx="5286300" cy="2190900"/>
            <a:chOff x="6334125" y="1524000"/>
            <a:chExt cx="5286300" cy="2190900"/>
          </a:xfrm>
        </p:grpSpPr>
        <p:sp>
          <p:nvSpPr>
            <p:cNvPr id="306" name="Google Shape;306;p26"/>
            <p:cNvSpPr/>
            <p:nvPr/>
          </p:nvSpPr>
          <p:spPr>
            <a:xfrm>
              <a:off x="6334125" y="1524000"/>
              <a:ext cx="5286300" cy="2190900"/>
            </a:xfrm>
            <a:prstGeom prst="roundRect">
              <a:avLst>
                <a:gd name="adj" fmla="val 5217"/>
              </a:avLst>
            </a:prstGeom>
            <a:solidFill>
              <a:srgbClr val="181D27"/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6619875" y="1809750"/>
              <a:ext cx="47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3B82F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⚖️ Fairness Audit</a:t>
              </a:r>
              <a:endParaRPr sz="2000" b="0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Disaggregated AUC-ROC performance analysis.</a:t>
              </a:r>
              <a:endParaRPr sz="165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Consistent mathematical verification across diverse employment sub-groups: Permanent, Self-Employed, Student, Unemployed, and Retired.</a:t>
              </a:r>
              <a:endParaRPr sz="130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8" name="Google Shape;308;p26"/>
          <p:cNvGrpSpPr/>
          <p:nvPr/>
        </p:nvGrpSpPr>
        <p:grpSpPr>
          <a:xfrm>
            <a:off x="571500" y="4000500"/>
            <a:ext cx="5286300" cy="2190900"/>
            <a:chOff x="571500" y="4000500"/>
            <a:chExt cx="5286300" cy="2190900"/>
          </a:xfrm>
        </p:grpSpPr>
        <p:sp>
          <p:nvSpPr>
            <p:cNvPr id="309" name="Google Shape;309;p26"/>
            <p:cNvSpPr/>
            <p:nvPr/>
          </p:nvSpPr>
          <p:spPr>
            <a:xfrm>
              <a:off x="571500" y="4000500"/>
              <a:ext cx="5286300" cy="2190900"/>
            </a:xfrm>
            <a:prstGeom prst="roundRect">
              <a:avLst>
                <a:gd name="adj" fmla="val 5217"/>
              </a:avLst>
            </a:prstGeom>
            <a:solidFill>
              <a:srgbClr val="181D27"/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857250" y="4286250"/>
              <a:ext cx="47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3B82F6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📢 Transparency Disclaimer</a:t>
              </a:r>
              <a:endParaRPr sz="2000" b="0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Strict policy-driven algorithmic guardrails.</a:t>
              </a:r>
              <a:endParaRPr sz="165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Every prediction page prominently displays: "AI is a decision-support </a:t>
              </a:r>
              <a:r>
                <a:rPr lang="en-US" sz="130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tool—not</a:t>
              </a:r>
              <a:r>
                <a:rPr lang="en-US" sz="130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 a replacement for human judgment and regulatory guidelines."</a:t>
              </a:r>
              <a:endParaRPr sz="130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6334125" y="4000500"/>
            <a:ext cx="5286300" cy="2190900"/>
            <a:chOff x="6334125" y="4000500"/>
            <a:chExt cx="5286300" cy="2190900"/>
          </a:xfrm>
        </p:grpSpPr>
        <p:sp>
          <p:nvSpPr>
            <p:cNvPr id="312" name="Google Shape;312;p26"/>
            <p:cNvSpPr/>
            <p:nvPr/>
          </p:nvSpPr>
          <p:spPr>
            <a:xfrm>
              <a:off x="6334125" y="4000500"/>
              <a:ext cx="5286300" cy="2190900"/>
            </a:xfrm>
            <a:prstGeom prst="roundRect">
              <a:avLst>
                <a:gd name="adj" fmla="val 5217"/>
              </a:avLst>
            </a:prstGeom>
            <a:solidFill>
              <a:srgbClr val="181D27"/>
            </a:solidFill>
            <a:ln w="9525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 txBox="1"/>
            <p:nvPr/>
          </p:nvSpPr>
          <p:spPr>
            <a:xfrm>
              <a:off x="6619875" y="4286250"/>
              <a:ext cx="47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4ADE80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🧩 No Black Box</a:t>
              </a:r>
              <a:endParaRPr sz="20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Traceable feature contributions for key factors.</a:t>
              </a:r>
              <a:endParaRPr sz="165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The system explicitly maps out how loan amount, repayment history, and employment details influenced each decision, building deep trust.</a:t>
              </a:r>
              <a:endParaRPr sz="130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Insights: </a:t>
            </a:r>
            <a:r>
              <a:rPr lang="en-US" sz="3600" b="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Findings &amp; Takeaways</a:t>
            </a:r>
            <a:endParaRPr sz="3600" b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319" name="Google Shape;319;p27"/>
          <p:cNvGrpSpPr/>
          <p:nvPr/>
        </p:nvGrpSpPr>
        <p:grpSpPr>
          <a:xfrm>
            <a:off x="571500" y="1619250"/>
            <a:ext cx="5286300" cy="1762200"/>
            <a:chOff x="571500" y="1619250"/>
            <a:chExt cx="5286300" cy="1762200"/>
          </a:xfrm>
        </p:grpSpPr>
        <p:sp>
          <p:nvSpPr>
            <p:cNvPr id="320" name="Google Shape;320;p27"/>
            <p:cNvSpPr/>
            <p:nvPr/>
          </p:nvSpPr>
          <p:spPr>
            <a:xfrm>
              <a:off x="571500" y="1619250"/>
              <a:ext cx="5286300" cy="1762200"/>
            </a:xfrm>
            <a:prstGeom prst="roundRect">
              <a:avLst>
                <a:gd name="adj" fmla="val 6486"/>
              </a:avLst>
            </a:prstGeom>
            <a:solidFill>
              <a:srgbClr val="181D27"/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1" name="Google Shape;321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0100" y="1847850"/>
              <a:ext cx="495300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7"/>
            <p:cNvSpPr txBox="1"/>
            <p:nvPr/>
          </p:nvSpPr>
          <p:spPr>
            <a:xfrm>
              <a:off x="809625" y="1857375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01</a:t>
              </a:r>
              <a:endParaRPr sz="160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23" name="Google Shape;323;p27"/>
            <p:cNvSpPr txBox="1"/>
            <p:nvPr/>
          </p:nvSpPr>
          <p:spPr>
            <a:xfrm>
              <a:off x="1476375" y="1762125"/>
              <a:ext cx="41433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Top Risk Drivers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Repayment delays (</a:t>
              </a:r>
              <a:r>
                <a:rPr lang="en-US" sz="1100" b="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mean_repay_delay</a:t>
              </a: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, </a:t>
              </a:r>
              <a:r>
                <a:rPr lang="en-US" sz="1100" b="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max_repay_delay</a:t>
              </a: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), </a:t>
              </a:r>
              <a:r>
                <a:rPr lang="en-US" sz="1100" b="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late_repayment_ratio</a:t>
              </a: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, and high loan intensity are the strongest predictors.</a:t>
              </a:r>
              <a:endParaRPr sz="12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24" name="Google Shape;324;p27"/>
          <p:cNvGrpSpPr/>
          <p:nvPr/>
        </p:nvGrpSpPr>
        <p:grpSpPr>
          <a:xfrm>
            <a:off x="6334125" y="1619250"/>
            <a:ext cx="5286300" cy="1762200"/>
            <a:chOff x="6334125" y="1619250"/>
            <a:chExt cx="5286300" cy="1762200"/>
          </a:xfrm>
        </p:grpSpPr>
        <p:sp>
          <p:nvSpPr>
            <p:cNvPr id="325" name="Google Shape;325;p27"/>
            <p:cNvSpPr/>
            <p:nvPr/>
          </p:nvSpPr>
          <p:spPr>
            <a:xfrm>
              <a:off x="6334125" y="1619250"/>
              <a:ext cx="5286300" cy="1762200"/>
            </a:xfrm>
            <a:prstGeom prst="roundRect">
              <a:avLst>
                <a:gd name="adj" fmla="val 6486"/>
              </a:avLst>
            </a:prstGeom>
            <a:solidFill>
              <a:srgbClr val="181D27"/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6" name="Google Shape;326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62725" y="1847850"/>
              <a:ext cx="495300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27"/>
            <p:cNvSpPr txBox="1"/>
            <p:nvPr/>
          </p:nvSpPr>
          <p:spPr>
            <a:xfrm>
              <a:off x="6572250" y="1857375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3B82F6"/>
                  </a:solidFill>
                  <a:latin typeface="Urbanist"/>
                  <a:ea typeface="Urbanist"/>
                  <a:cs typeface="Urbanist"/>
                  <a:sym typeface="Urbanist"/>
                </a:rPr>
                <a:t>02</a:t>
              </a:r>
              <a:endParaRPr sz="1600" b="1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239000" y="1762125"/>
              <a:ext cx="41433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Threshold Tuning &gt; SMOTE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Adjusting classification threshold (0.5 → ~0.25) was more effective than SMOTE alone for catching actual defaults.</a:t>
              </a:r>
              <a:endParaRPr sz="12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29" name="Google Shape;329;p27"/>
          <p:cNvGrpSpPr/>
          <p:nvPr/>
        </p:nvGrpSpPr>
        <p:grpSpPr>
          <a:xfrm>
            <a:off x="571500" y="3762375"/>
            <a:ext cx="5286300" cy="1762200"/>
            <a:chOff x="571500" y="3762375"/>
            <a:chExt cx="5286300" cy="1762200"/>
          </a:xfrm>
        </p:grpSpPr>
        <p:sp>
          <p:nvSpPr>
            <p:cNvPr id="330" name="Google Shape;330;p27"/>
            <p:cNvSpPr/>
            <p:nvPr/>
          </p:nvSpPr>
          <p:spPr>
            <a:xfrm>
              <a:off x="571500" y="3762375"/>
              <a:ext cx="5286300" cy="1762200"/>
            </a:xfrm>
            <a:prstGeom prst="roundRect">
              <a:avLst>
                <a:gd name="adj" fmla="val 6486"/>
              </a:avLst>
            </a:prstGeom>
            <a:solidFill>
              <a:srgbClr val="181D27"/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0100" y="3990975"/>
              <a:ext cx="495300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27"/>
            <p:cNvSpPr txBox="1"/>
            <p:nvPr/>
          </p:nvSpPr>
          <p:spPr>
            <a:xfrm>
              <a:off x="809625" y="4000500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3B82F6"/>
                  </a:solidFill>
                  <a:latin typeface="Urbanist"/>
                  <a:ea typeface="Urbanist"/>
                  <a:cs typeface="Urbanist"/>
                  <a:sym typeface="Urbanist"/>
                </a:rPr>
                <a:t>03</a:t>
              </a:r>
              <a:endParaRPr sz="1600" b="1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1476375" y="3905250"/>
              <a:ext cx="41433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XGBoost &gt; Neural Networks</a:t>
              </a:r>
              <a:endParaRPr sz="1800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 dirty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Tuned XGBoost consistently outperformed both </a:t>
              </a:r>
              <a:r>
                <a:rPr lang="en-US" sz="1250" b="0" dirty="0" err="1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ShallowMLP</a:t>
              </a:r>
              <a:r>
                <a:rPr lang="en-US" sz="1250" b="0" dirty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 and </a:t>
              </a:r>
              <a:r>
                <a:rPr lang="en-US" sz="1250" b="0" dirty="0" err="1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DeepTabNet</a:t>
              </a:r>
              <a:r>
                <a:rPr lang="en-US" sz="1250" b="0" dirty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 on this tabular dataset — gradient boosting remains king for structured data.</a:t>
              </a:r>
              <a:endParaRPr sz="1250" b="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34" name="Google Shape;334;p27"/>
          <p:cNvGrpSpPr/>
          <p:nvPr/>
        </p:nvGrpSpPr>
        <p:grpSpPr>
          <a:xfrm>
            <a:off x="6334125" y="3762375"/>
            <a:ext cx="5286300" cy="1762200"/>
            <a:chOff x="6334125" y="3762375"/>
            <a:chExt cx="5286300" cy="1762200"/>
          </a:xfrm>
        </p:grpSpPr>
        <p:sp>
          <p:nvSpPr>
            <p:cNvPr id="335" name="Google Shape;335;p27"/>
            <p:cNvSpPr/>
            <p:nvPr/>
          </p:nvSpPr>
          <p:spPr>
            <a:xfrm>
              <a:off x="6334125" y="3762375"/>
              <a:ext cx="5286300" cy="1762200"/>
            </a:xfrm>
            <a:prstGeom prst="roundRect">
              <a:avLst>
                <a:gd name="adj" fmla="val 6486"/>
              </a:avLst>
            </a:prstGeom>
            <a:solidFill>
              <a:srgbClr val="181D27"/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6" name="Google Shape;336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62725" y="3990975"/>
              <a:ext cx="495300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7"/>
            <p:cNvSpPr txBox="1"/>
            <p:nvPr/>
          </p:nvSpPr>
          <p:spPr>
            <a:xfrm>
              <a:off x="6572250" y="4000500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04</a:t>
              </a:r>
              <a:endParaRPr sz="1600" b="1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38" name="Google Shape;338;p27"/>
            <p:cNvSpPr txBox="1"/>
            <p:nvPr/>
          </p:nvSpPr>
          <p:spPr>
            <a:xfrm>
              <a:off x="7239000" y="3905250"/>
              <a:ext cx="41433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Feature Engineering Matters</a:t>
              </a:r>
              <a:endParaRPr sz="18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E2E8F0"/>
                  </a:solidFill>
                  <a:latin typeface="Urbanist"/>
                  <a:ea typeface="Urbanist"/>
                  <a:cs typeface="Urbanist"/>
                  <a:sym typeface="Urbanist"/>
                </a:rPr>
                <a:t>Engineered behavioral features (repayment delay ratios, on-time rates) had far higher predictive power than raw demographic features alone.</a:t>
              </a:r>
              <a:endParaRPr sz="1250" b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7963" y="-2009775"/>
            <a:ext cx="5634000" cy="68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257500" y="1062000"/>
            <a:ext cx="8353500" cy="57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762000" y="762000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Thank </a:t>
            </a:r>
            <a:r>
              <a:rPr lang="en-US" sz="4800" b="0" dirty="0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You</a:t>
            </a:r>
            <a:endParaRPr sz="4800" b="0" dirty="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80" b="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Empowering farmers, one loan at a time 🌾</a:t>
            </a:r>
            <a:endParaRPr sz="1480" b="0" dirty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47" name="Google Shape;347;p28"/>
          <p:cNvGrpSpPr/>
          <p:nvPr/>
        </p:nvGrpSpPr>
        <p:grpSpPr>
          <a:xfrm>
            <a:off x="752475" y="2657475"/>
            <a:ext cx="3448200" cy="3257700"/>
            <a:chOff x="-9525" y="-9525"/>
            <a:chExt cx="3448200" cy="3257700"/>
          </a:xfrm>
        </p:grpSpPr>
        <p:pic>
          <p:nvPicPr>
            <p:cNvPr id="348" name="Google Shape;348;p2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9525" y="-9525"/>
              <a:ext cx="3448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28"/>
            <p:cNvSpPr txBox="1"/>
            <p:nvPr/>
          </p:nvSpPr>
          <p:spPr>
            <a:xfrm>
              <a:off x="285750" y="285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 b="1">
                  <a:solidFill>
                    <a:srgbClr val="4ADE8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Project Resources</a:t>
              </a:r>
              <a:endParaRPr sz="1480" b="1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FFFFF"/>
                  </a:solidFill>
                  <a:uFill>
                    <a:noFill/>
                  </a:uFill>
                  <a:latin typeface="Inter SemiBold"/>
                  <a:ea typeface="Inter SemiBold"/>
                  <a:cs typeface="Inter SemiBold"/>
                  <a:sym typeface="Inter SemiBold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🌐 Live Demo </a:t>
              </a:r>
              <a:r>
                <a:rPr lang="en-US" sz="1400" b="0">
                  <a:solidFill>
                    <a:srgbClr val="4ADE80"/>
                  </a:solidFill>
                  <a:uFill>
                    <a:noFill/>
                  </a:uFill>
                  <a:latin typeface="Inter SemiBold"/>
                  <a:ea typeface="Inter SemiBold"/>
                  <a:cs typeface="Inter SemiBold"/>
                  <a:sym typeface="Inter SemiBold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↗</a:t>
              </a:r>
              <a:endParaRPr sz="1480" b="1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18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Explore the interactive Streamlit agricultural credit scoring application in real-time.</a:t>
              </a:r>
              <a:endParaRPr sz="1018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FFFFF"/>
                  </a:solidFill>
                  <a:uFill>
                    <a:noFill/>
                  </a:uFill>
                  <a:latin typeface="Inter SemiBold"/>
                  <a:ea typeface="Inter SemiBold"/>
                  <a:cs typeface="Inter SemiBold"/>
                  <a:sym typeface="Inter SemiBold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📂 GitHub Repo </a:t>
              </a:r>
              <a:r>
                <a:rPr lang="en-US" sz="1400" b="0">
                  <a:solidFill>
                    <a:srgbClr val="4ADE80"/>
                  </a:solidFill>
                  <a:uFill>
                    <a:noFill/>
                  </a:uFill>
                  <a:latin typeface="Inter SemiBold"/>
                  <a:ea typeface="Inter SemiBold"/>
                  <a:cs typeface="Inter SemiBold"/>
                  <a:sym typeface="Inter SemiBold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↗</a:t>
              </a:r>
              <a:endParaRPr sz="1480" b="1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1125"/>
                </a:spcAft>
                <a:buNone/>
              </a:pPr>
              <a:r>
                <a:rPr lang="en-US" sz="1018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Review the source code, Python notebooks, and pipeline implementation details.</a:t>
              </a:r>
              <a:endParaRPr sz="1018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0" name="Google Shape;350;p28"/>
          <p:cNvGrpSpPr/>
          <p:nvPr/>
        </p:nvGrpSpPr>
        <p:grpSpPr>
          <a:xfrm>
            <a:off x="4467225" y="2657475"/>
            <a:ext cx="3448200" cy="3257700"/>
            <a:chOff x="-9525" y="-9525"/>
            <a:chExt cx="3448200" cy="3257700"/>
          </a:xfrm>
        </p:grpSpPr>
        <p:pic>
          <p:nvPicPr>
            <p:cNvPr id="351" name="Google Shape;351;p2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-9525" y="-9525"/>
              <a:ext cx="3448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8"/>
            <p:cNvSpPr txBox="1"/>
            <p:nvPr/>
          </p:nvSpPr>
          <p:spPr>
            <a:xfrm>
              <a:off x="285750" y="285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0" b="1">
                  <a:solidFill>
                    <a:srgbClr val="4ADE8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Technology Stack</a:t>
              </a:r>
              <a:endParaRPr sz="1480" b="1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Engineered using modern machine learning frameworks and interactive web technologies:</a:t>
              </a:r>
              <a:endParaRPr sz="1018" b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18" b="0">
                  <a:solidFill>
                    <a:srgbClr val="4ADE80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Python 3.12+</a:t>
              </a:r>
              <a:r>
                <a:rPr lang="en-US" sz="1018" b="0">
                  <a:solidFill>
                    <a:srgbClr val="3B82F6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XGBoostPyTorchSHAPStreamlitSMOTE</a:t>
              </a:r>
              <a:endParaRPr sz="1480" b="1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3" name="Google Shape;353;p28"/>
          <p:cNvGrpSpPr/>
          <p:nvPr/>
        </p:nvGrpSpPr>
        <p:grpSpPr>
          <a:xfrm>
            <a:off x="8372475" y="2562225"/>
            <a:ext cx="3448200" cy="3448200"/>
            <a:chOff x="180975" y="180975"/>
            <a:chExt cx="3448200" cy="3448200"/>
          </a:xfrm>
        </p:grpSpPr>
        <p:pic>
          <p:nvPicPr>
            <p:cNvPr id="354" name="Google Shape;354;p28" descr="A beautiful, high-quality, professional overhead photograph of lush green Kenyan tea fields or agricultural geometric crop patterns, highlighting sustainability and modern agriculture, warm sunlight, scenic view."/>
            <p:cNvPicPr preferRelativeResize="0"/>
            <p:nvPr/>
          </p:nvPicPr>
          <p:blipFill rotWithShape="1">
            <a:blip r:embed="rId9">
              <a:alphaModFix/>
            </a:blip>
            <a:srcRect l="5004" t="5004" r="4995" b="4995"/>
            <a:stretch/>
          </p:blipFill>
          <p:spPr>
            <a:xfrm>
              <a:off x="190500" y="190500"/>
              <a:ext cx="3429000" cy="3429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55" name="Google Shape;355;p2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0975" y="180975"/>
              <a:ext cx="3448200" cy="3448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Microsoft Office PowerPoint</Application>
  <PresentationFormat>Widescreen</PresentationFormat>
  <Paragraphs>181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Urbanist SemiBold</vt:lpstr>
      <vt:lpstr>Arial</vt:lpstr>
      <vt:lpstr>Urbanist ExtraBold</vt:lpstr>
      <vt:lpstr>Urbanist</vt:lpstr>
      <vt:lpstr>Inter</vt:lpstr>
      <vt:lpstr>Space Grotesk</vt:lpstr>
      <vt:lpstr>Inter SemiBold</vt:lpstr>
      <vt:lpstr>Urbanist Medium</vt:lpstr>
      <vt:lpstr>Space Grotesk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Ogola</cp:lastModifiedBy>
  <cp:revision>1</cp:revision>
  <dcterms:modified xsi:type="dcterms:W3CDTF">2026-08-07T18:36:31Z</dcterms:modified>
</cp:coreProperties>
</file>