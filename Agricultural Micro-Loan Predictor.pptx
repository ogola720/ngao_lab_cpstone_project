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1751855"/>
            <a:ext cx="11601450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Urbanist"/>
              </a:rPr>
              <a:t>🌾 Agricultural </a:t>
            </a:r>
            <a:r>
              <a:rPr b="1" sz="5400" i="0" u="none">
                <a:solidFill>
                  <a:srgbClr val="4ADE80"/>
                </a:solidFill>
                <a:latin typeface="Urbanist"/>
              </a:rPr>
              <a:t>Micro-Loan</a:t>
            </a:r>
            <a:r>
              <a:rPr b="1" sz="5400" i="0" u="none">
                <a:solidFill>
                  <a:srgbClr val="F8FAFC"/>
                </a:solidFill>
                <a:latin typeface="Urbanist"/>
              </a:rPr>
              <a:t>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450877"/>
            <a:ext cx="7620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Empowering Kenyan Farmers and SACCOs with AI-Driven Credit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658469"/>
            <a:ext cx="11049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ADE80"/>
                </a:solidFill>
                <a:latin typeface="Urbanist SemiBold"/>
              </a:rPr>
              <a:t>NGAO LABS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457325"/>
            <a:ext cx="5286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Kenyan microfinance institutions and SACCOs face significant financial risk from loan defaults in the agricultural sector.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514600"/>
            <a:ext cx="5286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Manual credit assessments are often: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448175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Our Goal: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Automate default risk prediction using machine learning for faster, fairer, and safer lending.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962275"/>
            <a:ext cx="5000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Slow and resource-intensive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457575"/>
            <a:ext cx="5000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Inconsistent across branches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952875"/>
            <a:ext cx="5000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Prone to human bias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57325"/>
            <a:ext cx="5286375" cy="381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AFC"/>
                </a:solidFill>
                <a:latin typeface="Urbanist SemiBold"/>
              </a:rPr>
              <a:t>The Challenge: </a:t>
            </a:r>
            <a:r>
              <a:rPr b="0" sz="3300" i="0" u="none">
                <a:solidFill>
                  <a:srgbClr val="4ADE80"/>
                </a:solidFill>
                <a:latin typeface="Urbanist SemiBold"/>
              </a:rPr>
              <a:t>Default Risks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8132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76625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7192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62137"/>
            <a:ext cx="3492549" cy="401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862137"/>
            <a:ext cx="3492549" cy="401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862137"/>
            <a:ext cx="3492549" cy="401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22563" y="3052762"/>
            <a:ext cx="219027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F8FAFC"/>
                </a:solidFill>
                <a:latin typeface="Urbanist SemiBold"/>
              </a:rPr>
              <a:t>Data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519487"/>
            <a:ext cx="290199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Processed over 26,000 historical loan and demographic records to extract behavioral features like repayment delays and loan intensity.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5905" y="3052762"/>
            <a:ext cx="152019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F8FAFC"/>
                </a:solidFill>
                <a:latin typeface="Urbanist SemiBold"/>
              </a:rPr>
              <a:t>AI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519487"/>
            <a:ext cx="2901999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Trained multiple architectures, deploying a tuned XGBoost Ensemble optimized for catching high-risk defaults via threshold tuning.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9172" y="3052762"/>
            <a:ext cx="203025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F8FAFC"/>
                </a:solidFill>
                <a:latin typeface="Urbanist SemiBold"/>
              </a:rPr>
              <a:t>Web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519487"/>
            <a:ext cx="2901999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Built an interactive Streamlit application offering real-time risk scoring alongside transparent SHAP explanations for every prediction.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7675" y="2300287"/>
            <a:ext cx="40005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7400" y="2300287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7124" y="2300287"/>
            <a:ext cx="51435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AFC"/>
                </a:solidFill>
                <a:latin typeface="Urbanist SemiBold"/>
              </a:rPr>
              <a:t>Solution </a:t>
            </a:r>
            <a:r>
              <a:rPr b="0" sz="3300" i="0" u="none">
                <a:solidFill>
                  <a:srgbClr val="4ADE80"/>
                </a:solidFill>
                <a:latin typeface="Urbanist SemiBold"/>
              </a:rPr>
              <a:t>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573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57325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The dataset exhibits a significant class imbalance, which is typical in credit scoring scenarios: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200400"/>
            <a:ext cx="528637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This imbalance requires advanced mitigation techniques like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SMOTE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(Synthetic Minority Over-sampling) and cost-sensitive model weighting to prevent the AI from defaulting to "always approve".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209800"/>
            <a:ext cx="5000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~78% Good Loans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(Successfully Repaid)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2705100"/>
            <a:ext cx="5000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~22% Bad Loans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(Defaulted)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1562100"/>
            <a:ext cx="5076825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AFC"/>
                </a:solidFill>
                <a:latin typeface="Urbanist SemiBold"/>
              </a:rPr>
              <a:t>Data &amp; </a:t>
            </a:r>
            <a:r>
              <a:rPr b="0" sz="3300" i="0" u="none">
                <a:solidFill>
                  <a:srgbClr val="4ADE80"/>
                </a:solidFill>
                <a:latin typeface="Urbanist SemiBold"/>
              </a:rPr>
              <a:t>Class Imbalance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2885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24150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28812"/>
            <a:ext cx="5286375" cy="3886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928812"/>
            <a:ext cx="5286375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319337"/>
            <a:ext cx="473059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4ADE80"/>
                </a:solidFill>
                <a:latin typeface="Urbanist SemiBold"/>
              </a:rPr>
              <a:t>Behavioral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786062"/>
            <a:ext cx="45053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Derived features capturing historical interaction proved to be the strongest risk drivers: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538537"/>
            <a:ext cx="45053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Key Variables: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2319337"/>
            <a:ext cx="473059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4ADE80"/>
                </a:solidFill>
                <a:latin typeface="Urbanist SemiBold"/>
              </a:rPr>
              <a:t>Applicant 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786062"/>
            <a:ext cx="45053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Processed demographic variables to understand the applicant's background context and stability: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3538537"/>
            <a:ext cx="45053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Key Variables: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8275" y="3938587"/>
            <a:ext cx="40290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Average repayment delay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8275" y="4433887"/>
            <a:ext cx="40290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Late payment indicators &amp; ratios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8275" y="4929187"/>
            <a:ext cx="40290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Total previous loans &amp; loan intensity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900" y="3938587"/>
            <a:ext cx="40290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Age at loan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900" y="4433887"/>
            <a:ext cx="40290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Employment status (e.g., Self-Employed)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900" y="4929187"/>
            <a:ext cx="40290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Bank account types &amp; education level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AFC"/>
                </a:solidFill>
                <a:latin typeface="Urbanist SemiBold"/>
              </a:rPr>
              <a:t>Feature Engineering </a:t>
            </a:r>
            <a:r>
              <a:rPr b="0" sz="3300" i="0" u="none">
                <a:solidFill>
                  <a:srgbClr val="4ADE80"/>
                </a:solidFill>
                <a:latin typeface="Urbanist SemiBold"/>
              </a:rPr>
              <a:t>Strategy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525" y="3957637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525" y="4452937"/>
            <a:ext cx="19050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525" y="4948237"/>
            <a:ext cx="19050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5150" y="3957637"/>
            <a:ext cx="19050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5150" y="4452937"/>
            <a:ext cx="19050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5150" y="4948237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573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57325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We benchmarked deep learning models against gradient-boosted trees: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000500"/>
            <a:ext cx="5286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The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Tuned XGBoost model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consistently outperformed the neural networks on this tabular dataset, achieving a Validation AUC-ROC of ~0.72+.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209800"/>
            <a:ext cx="5000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PyTorch ShallowMLP: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Baseline neural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2705100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PyTorch DeepTabNet: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Deeper architecture for tabular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505200"/>
            <a:ext cx="5000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XGBoost Tuned Ensemble: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Primary production model.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1562100"/>
            <a:ext cx="5076825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AFC"/>
                </a:solidFill>
                <a:latin typeface="Urbanist SemiBold"/>
              </a:rPr>
              <a:t>Model Convergence &amp; </a:t>
            </a:r>
            <a:r>
              <a:rPr b="0" sz="3300" i="0" u="none">
                <a:solidFill>
                  <a:srgbClr val="4ADE80"/>
                </a:solidFill>
                <a:latin typeface="Urbanist SemiBold"/>
              </a:rPr>
              <a:t>ROC Analysis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2885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24150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24250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573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57325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Initial models were trained using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SMOTE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at the default classification threshold of 0.5.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209800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While accuracy was high, analyzing the confusion matrices revealed a critical flaw: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962275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Too many actual defaults were being classified as safe (false negatives).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762375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In agricultural micro-finance, the cost of a missed default is much higher than declining a safe loan.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1562100"/>
            <a:ext cx="5076825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AFC"/>
                </a:solidFill>
                <a:latin typeface="Urbanist SemiBold"/>
              </a:rPr>
              <a:t>Baseline </a:t>
            </a:r>
            <a:r>
              <a:rPr b="0" sz="3300" i="0" u="none">
                <a:solidFill>
                  <a:srgbClr val="4ADE80"/>
                </a:solidFill>
                <a:latin typeface="Urbanist SemiBold"/>
              </a:rPr>
              <a:t>Confusion Matrices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8132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8142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573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57325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To address the false negative issue, we performed </a:t>
            </a:r>
            <a:r>
              <a:rPr b="1" sz="1500" i="0" u="none">
                <a:solidFill>
                  <a:srgbClr val="CBD5E1"/>
                </a:solidFill>
                <a:latin typeface="Inter"/>
              </a:rPr>
              <a:t>Classification Threshold Tuning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209800"/>
            <a:ext cx="5286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By lowering the decision threshold from 0.50 to ~0.10 - 0.25 on the XGBoost model, we heavily prioritized Default Recall.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267075"/>
            <a:ext cx="5000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Dramatically increased detection of bad loans.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762375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Proved more effective than SMOTE alone in catching defaults.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1562100"/>
            <a:ext cx="5076825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AFC"/>
                </a:solidFill>
                <a:latin typeface="Urbanist SemiBold"/>
              </a:rPr>
              <a:t>Optimizing for </a:t>
            </a:r>
            <a:r>
              <a:rPr b="0" sz="3300" i="0" u="none">
                <a:solidFill>
                  <a:srgbClr val="4ADE80"/>
                </a:solidFill>
                <a:latin typeface="Urbanist SemiBold"/>
              </a:rPr>
              <a:t>Default Recall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8612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8142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573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57325"/>
            <a:ext cx="5286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After applying both synthetic over-sampling (SMOTE) and our recall-optimized threshold logic, the final metrics clearly identify the winner.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514600"/>
            <a:ext cx="5286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XGBoost Tuned Ensemble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delivers superior separation capability, balancing the need to approve good farmers while protecting SACCOs from high-risk defaults.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1562100"/>
            <a:ext cx="5076825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AFC"/>
                </a:solidFill>
                <a:latin typeface="Urbanist SemiBold"/>
              </a:rPr>
              <a:t>Final </a:t>
            </a:r>
            <a:r>
              <a:rPr b="0" sz="3300" i="0" u="none">
                <a:solidFill>
                  <a:srgbClr val="4ADE80"/>
                </a:solidFill>
                <a:latin typeface="Urbanist SemiBold"/>
              </a:rPr>
              <a:t>Model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550693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AFC"/>
                </a:solidFill>
                <a:latin typeface="Urbanist SemiBold"/>
              </a:rPr>
              <a:t>Interactive </a:t>
            </a:r>
            <a:r>
              <a:rPr b="0" sz="3300" i="0" u="none">
                <a:solidFill>
                  <a:srgbClr val="4ADE80"/>
                </a:solidFill>
                <a:latin typeface="Urbanist SemiBold"/>
              </a:rPr>
              <a:t>Web App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985962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We developed an end-to-end Streamlit dashboard for loan officers.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786062"/>
            <a:ext cx="5286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BD5E1"/>
                </a:solidFill>
                <a:latin typeface="Inter"/>
              </a:rPr>
              <a:t>Key Capabilities: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" y="347186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471862"/>
            <a:ext cx="5095875" cy="6096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Real-time scoring based on demographics and loan terms.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" y="4224337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224337"/>
            <a:ext cx="509587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Dynamic calculation of behavioral insights.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4672012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672012"/>
            <a:ext cx="509587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Clear High-Risk / Low-Risk indicators.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" y="5119687"/>
            <a:ext cx="104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119687"/>
            <a:ext cx="5095875" cy="3048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Built-in dark/light mode functionality.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1049833"/>
            <a:ext cx="9525000" cy="1792485"/>
          </a:xfrm>
          <a:prstGeom prst="roundRect">
            <a:avLst>
              <a:gd name="adj" fmla="val 425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00250" y="1287958"/>
            <a:ext cx="8620125" cy="1316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8FAFC"/>
                </a:solidFill>
                <a:latin typeface="Inter SemiBold"/>
              </a:rPr>
              <a:t>Transparent SHAP Explanations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We eliminated the "Black Box." Every web app prediction includes a feature impact analysis, showing loan officers exactly *why* an applicant was flagged (e.g., specific repayment delay impacts).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3032819"/>
            <a:ext cx="9525000" cy="1792485"/>
          </a:xfrm>
          <a:prstGeom prst="roundRect">
            <a:avLst>
              <a:gd name="adj" fmla="val 425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00250" y="3270944"/>
            <a:ext cx="8620125" cy="1316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8FAFC"/>
                </a:solidFill>
                <a:latin typeface="Inter SemiBold"/>
              </a:rPr>
              <a:t>Algorithmic Fairness Audits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Disaggregated AUC-ROC analysis across employment sub-groups (Self-Employed, Permanent, etc.) ensured consistent model performance, mitigating systemic bias against vulnerable demographics.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5015805"/>
            <a:ext cx="9525000" cy="1487685"/>
          </a:xfrm>
          <a:prstGeom prst="roundRect">
            <a:avLst>
              <a:gd name="adj" fmla="val 5122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00250" y="5253930"/>
            <a:ext cx="8620125" cy="1011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8FAFC"/>
                </a:solidFill>
                <a:latin typeface="Inter SemiBold"/>
              </a:rPr>
              <a:t>Human-in-the-Loop Design</a:t>
            </a:r>
            <a:r>
              <a:rPr b="0" sz="1500" i="0" u="none">
                <a:solidFill>
                  <a:srgbClr val="CBD5E1"/>
                </a:solidFill>
                <a:latin typeface="Inter"/>
              </a:rPr>
              <a:t> Prominent transparency disclaimers reinforce that the AI is a decision-support tool, designed to assist—not replace—institutional policy, human judgment, and regulatory compliance.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2832794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33500" y="4815780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3500" y="6493966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1292721"/>
            <a:ext cx="2667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50" y="3275707"/>
            <a:ext cx="333375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5258692"/>
            <a:ext cx="266700" cy="2762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164008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AFC"/>
                </a:solidFill>
                <a:latin typeface="Urbanist SemiBold"/>
              </a:rPr>
              <a:t>Responsible AI &amp; </a:t>
            </a:r>
            <a:r>
              <a:rPr b="0" sz="3300" i="0" u="none">
                <a:solidFill>
                  <a:srgbClr val="4ADE80"/>
                </a:solidFill>
                <a:latin typeface="Urbanist SemiBold"/>
              </a:rPr>
              <a:t>Key Findings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311747"/>
            <a:ext cx="116014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F8FAFC"/>
                </a:solidFill>
                <a:latin typeface="Urbanist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416647"/>
            <a:ext cx="1104900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CBD5E1"/>
                </a:solidFill>
                <a:latin typeface="Inter"/>
              </a:rPr>
              <a:t>Thank you for exploring our Capstone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89077"/>
            <a:ext cx="1104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4ADE80"/>
                </a:solidFill>
                <a:latin typeface="Urbanist SemiBold"/>
              </a:rPr>
              <a:t>Ngao Labs Capstone Team | Agricultural Micro-Loan Predictor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525" y="3633638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52900" y="3627090"/>
            <a:ext cx="4981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https://lookaside.fbsbx.com/lookaside/crawler/media/?media_id=1311576620998004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52900" y="3872805"/>
            <a:ext cx="4981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300" i="0" u="none">
                <a:solidFill>
                  <a:srgbClr val="F8FAFC"/>
                </a:solidFill>
                <a:latin typeface="Urbanist Semi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